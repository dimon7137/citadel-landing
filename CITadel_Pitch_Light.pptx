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Oval 9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8686800"/>
            <a:ext cx="18288000" cy="1600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CF1"/>
                </a:solidFill>
                <a:latin typeface="Segoe UI"/>
              </a:rPr>
              <a:t>ORTHOPAEDIC RECONSTRUCTION  |  TECHNOLOGY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0" b="1">
                <a:solidFill>
                  <a:srgbClr val="FFFFFF"/>
                </a:solidFill>
                <a:latin typeface="Segoe UI"/>
              </a:rPr>
              <a:t>CITadel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2801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Temporary Internal Stabilisation (TIS)</a:t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for Critical Long-Bone Defects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CCDDE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400" b="0">
                <a:solidFill>
                  <a:srgbClr val="E8ECF1"/>
                </a:solidFill>
                <a:latin typeface="Segoe UI"/>
              </a:rPr>
              <a:t>Modular intramedullary system for staged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8823960"/>
            <a:ext cx="4572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Maksym Baida, PhD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E8ECF1"/>
                </a:solidFill>
                <a:latin typeface="Segoe UI"/>
              </a:rPr>
              <a:t>Founder &amp; Clinical Lead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E8ECF1"/>
                </a:solidFill>
                <a:latin typeface="Segoe UI"/>
              </a:rPr>
              <a:t>citadelimplant.com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7" name="Oval 26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CLINICAL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Critical long-bone defects remain a major unmet clinical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371600"/>
            <a:ext cx="438912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15400" y="160020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60020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A1628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6002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628"/>
                </a:solidFill>
                <a:latin typeface="Segoe UI"/>
              </a:rPr>
              <a:t>High infection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05740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High rates of infection and mechanical complication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0" y="1371600"/>
            <a:ext cx="438912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670280" y="160020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70280" y="160020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A162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0" y="16002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628"/>
                </a:solidFill>
                <a:latin typeface="Segoe UI"/>
              </a:rPr>
              <a:t>No internal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0" y="205740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No effective internal solutions for staged reconstruction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749040"/>
            <a:ext cx="438912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397764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9776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A1628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9776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628"/>
                </a:solidFill>
                <a:latin typeface="Segoe UI"/>
              </a:rPr>
              <a:t>External fixation burden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43484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External fixation leads to patient burden and pin-tract infections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41680" y="3749040"/>
            <a:ext cx="438912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670280" y="397764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0280" y="39776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A1628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0" y="39776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A1628"/>
                </a:solidFill>
                <a:latin typeface="Segoe UI"/>
              </a:rPr>
              <a:t>High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0" y="443484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Prolonged hospitalisation and increased healthcare costs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9" name="Oval 18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CURRENT TREATMENT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Current treatments do not effectively support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staged reconstruction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CCDDE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No solution addresses the full clinical pathway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502920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5488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External fixation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457200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High infection risk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Patient discomfort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Prolonged treatment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89120"/>
            <a:ext cx="502920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45262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75488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Internal fixation (plates / nails)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257800"/>
            <a:ext cx="457200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Not designed for large defects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Limited modularity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Limited adaptability to complex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0" y="4389120"/>
            <a:ext cx="502920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0" y="45262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15800" y="475488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Bone transport / Ilizarov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15800" y="5257800"/>
            <a:ext cx="457200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Technically complex procedures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Long learning curve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High complication rates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601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CITadel is a modular system for staged internal stabilization of critical long-bone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7315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✓  Modular intramedullary platform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✓  Designed to integrate with existing fixation systems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✓  Minimises reliance on external fixation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✓  Adaptable to different defect sizes and anatomies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✓  Compatible with standard surgical workflows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5763532" cy="8641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Oval 8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5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Why it matters for industry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Strategic value for orthopaedic and medtech companies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6400800" cy="6239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3200400"/>
            <a:ext cx="9144000" cy="548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▸  Addresses an unmet need in complex trauma and infection cases</a:t>
            </a:r>
          </a:p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▸  Expands clinical indications for intramedullary fixation systems</a:t>
            </a:r>
          </a:p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▸  Enables a new procedural category (staged internal reconstruction)</a:t>
            </a:r>
          </a:p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▸  Integrates with existing implant portfolios and surgical workflows</a:t>
            </a:r>
          </a:p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▸  Enables new revenue stream in high-value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" name="Oval 27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Staged reconstruction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743200"/>
            <a:ext cx="896112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0" y="2971800"/>
            <a:ext cx="54864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297180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A162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8803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628"/>
                </a:solidFill>
                <a:latin typeface="Segoe UI"/>
              </a:rPr>
              <a:t>Debridement &amp; initial stabilisation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2918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Removal of infected / damaged tissue  |  Initial stabilisation of the 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343400"/>
            <a:ext cx="896112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0" y="4572000"/>
            <a:ext cx="54864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457200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A1628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4805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628"/>
                </a:solidFill>
                <a:latin typeface="Segoe UI"/>
              </a:rPr>
              <a:t>CITadel internal stabilisation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8920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Modular intramedullary system implantation  |  Provides stable internal fixation  |  Maintains defect space and supports soft tissue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943600"/>
            <a:ext cx="896112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6172200"/>
            <a:ext cx="54864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617220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A1628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0807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628"/>
                </a:solidFill>
                <a:latin typeface="Segoe UI"/>
              </a:rPr>
              <a:t>Early mobilisation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Enables early weight-bearing and rehabilitation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7543800"/>
            <a:ext cx="896112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7772400"/>
            <a:ext cx="54864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777240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A1628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76809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628"/>
                </a:solidFill>
                <a:latin typeface="Segoe UI"/>
              </a:rPr>
              <a:t>Definitive reconstruction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80924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Bone grafting or regeneration  |  Restoration of bone continuity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697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Debridement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1872" y="3657600"/>
            <a:ext cx="36576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4434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CITadel TIS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1872" y="5394960"/>
            <a:ext cx="36576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6172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Mobilisation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61872" y="7132320"/>
            <a:ext cx="36576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7909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Reconstruction</a:t>
            </a:r>
          </a:p>
        </p:txBody>
      </p:sp>
      <p:pic>
        <p:nvPicPr>
          <p:cNvPr id="40" name="Picture 39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1097280" cy="1097280"/>
          </a:xfrm>
          <a:prstGeom prst="ellipse">
            <a:avLst/>
          </a:prstGeom>
          <a:ln w="28575">
            <a:solidFill>
              <a:srgbClr val="00897B"/>
            </a:solidFill>
          </a:ln>
        </p:spPr>
      </p:pic>
      <p:pic>
        <p:nvPicPr>
          <p:cNvPr id="41" name="Picture 40" descr="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1097280" cy="1097280"/>
          </a:xfrm>
          <a:prstGeom prst="ellipse">
            <a:avLst/>
          </a:prstGeom>
          <a:ln w="28575">
            <a:solidFill>
              <a:srgbClr val="00897B"/>
            </a:solidFill>
          </a:ln>
        </p:spPr>
      </p:pic>
      <p:pic>
        <p:nvPicPr>
          <p:cNvPr id="42" name="Picture 41" descr="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035040"/>
            <a:ext cx="1097280" cy="1097280"/>
          </a:xfrm>
          <a:prstGeom prst="ellipse">
            <a:avLst/>
          </a:prstGeom>
          <a:ln w="28575">
            <a:solidFill>
              <a:srgbClr val="00897B"/>
            </a:solidFill>
          </a:ln>
        </p:spPr>
      </p:pic>
      <p:pic>
        <p:nvPicPr>
          <p:cNvPr id="43" name="Picture 42" descr="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7772400"/>
            <a:ext cx="1097280" cy="1097280"/>
          </a:xfrm>
          <a:prstGeom prst="ellipse">
            <a:avLst/>
          </a:prstGeom>
          <a:ln w="28575">
            <a:solidFill>
              <a:srgbClr val="00897B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CLINICAL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Improved outcomes across the treatment pathway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18872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Infection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Reduces infection risk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Eliminates external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0" y="118872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56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7028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Patient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70280" y="205740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No external fixation required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Improved comfort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Early mobilisation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29768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443484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66344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Surgical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16636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Modular system enables intraoperative adaptability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Streamlined surgical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0" y="429768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24560" y="443484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70280" y="466344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Healthcare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516636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Reduced complication rates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Shorter hospital stays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Lower overall healthcare costs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2" name="Oval 21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Growing market driven by complex bone defects and staged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02920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628"/>
                </a:solidFill>
                <a:latin typeface="Segoe U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Total Addressable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212080"/>
            <a:ext cx="1371600" cy="25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4480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Millions of long-bone fractures annually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5–10% progress to non-union or critical defects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High clinical and economic burden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40480"/>
            <a:ext cx="502920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628"/>
                </a:solidFill>
                <a:latin typeface="Segoe U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Serviceable Available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5212080"/>
            <a:ext cx="1371600" cy="25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486400"/>
            <a:ext cx="4480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Complex fractures and infections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Non-unions and critical bone defects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Cases requiring staged reconstruction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3840480"/>
            <a:ext cx="502920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0" y="411480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A1628"/>
                </a:solidFill>
                <a:latin typeface="Segoe UI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0" y="47548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455"/>
                </a:solidFill>
                <a:latin typeface="Segoe UI"/>
              </a:rPr>
              <a:t>Serviceable Obtainable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61520" y="5212080"/>
            <a:ext cx="1371600" cy="25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0" y="5486400"/>
            <a:ext cx="4480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Trauma centres and specialised hospitals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Early adopters in orthopaedic surgery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Initial market entry in EU and 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CLINICAL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Early clinical use demonstrates feasibility and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188720"/>
            <a:ext cx="43891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Clinical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39319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2 clinical cases completed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Successful implantation of CITadel system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Early outcomes demonstrate feasibility and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0" y="1188720"/>
            <a:ext cx="43891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56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7028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Technology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70280" y="2057400"/>
            <a:ext cx="39319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Functional prototype developed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Successfully used in clinical setting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Design validated in early clinical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434840"/>
            <a:ext cx="43891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457200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80060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Development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303520"/>
            <a:ext cx="39319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Iterative design improvements ongoing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Feedback from clinical use incorporated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Next development steps defined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0" y="4434840"/>
            <a:ext cx="43891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24560" y="457200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70280" y="480060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IP &amp;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5303520"/>
            <a:ext cx="39319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Patent application filed (Ukraine)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Currently under examination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Preparation for international patent filing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Grant application under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Procedure-based business model of orthopaedic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18872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Modular intramedullary fixation system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Procedure-based, single-use components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Designed for staged reconstruction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0" y="118872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560" y="13258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70280" y="155448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70280" y="205740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Hospitals and trauma centres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Orthopaedic departments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Specialised reconstruction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29768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443484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66344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Revenue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16636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Per-procedure revenue model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Implant system sales per case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Recurring revenue across staged procedures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0" y="4297680"/>
            <a:ext cx="438912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24560" y="443484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70280" y="466344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Go-to-market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0280" y="5166360"/>
            <a:ext cx="39319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Direct engagement with key surgeons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Initial adoption in specialised trauma centres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Clinically driven adoption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8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Bridging stability and infection control</a:t>
            </a:r>
          </a:p>
          <a:p>
            <a:pPr algn="l">
              <a:lnSpc>
                <a:spcPct val="180000"/>
              </a:lnSpc>
            </a:pPr>
            <a:r>
              <a:rPr sz="2000" b="0">
                <a:solidFill>
                  <a:srgbClr val="E8ECF1"/>
                </a:solidFill>
                <a:latin typeface="Segoe UI"/>
              </a:rPr>
              <a:t>Current solutions address either stability or infection — not both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069080"/>
            <a:ext cx="1097280" cy="38100"/>
          </a:xfrm>
          <a:prstGeom prst="rect">
            <a:avLst/>
          </a:prstGeom>
          <a:solidFill>
            <a:srgbClr val="71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External fixation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9377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Strong stabilisation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High infection risk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Poor patient comfort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93192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4069080"/>
            <a:ext cx="1097280" cy="38100"/>
          </a:xfrm>
          <a:prstGeom prst="rect">
            <a:avLst/>
          </a:prstGeom>
          <a:solidFill>
            <a:srgbClr val="71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29768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Internal fixation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49377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Good mechanical stability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Limited use in infection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Risk of implant-related complications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93192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4069080"/>
            <a:ext cx="1097280" cy="38100"/>
          </a:xfrm>
          <a:prstGeom prst="rect">
            <a:avLst/>
          </a:prstGeom>
          <a:solidFill>
            <a:srgbClr val="71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29768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Spacer-based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49377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Infection control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Limited mechanical stability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Requires multiple procedures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624560" y="3931920"/>
            <a:ext cx="3931920" cy="41148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807440" y="406908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53160" y="429768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1628"/>
                </a:solidFill>
                <a:latin typeface="Segoe UI"/>
              </a:rPr>
              <a:t>CITadel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53160" y="49377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0A1628"/>
                </a:solidFill>
                <a:latin typeface="Segoe UI"/>
              </a:rPr>
              <a:t>✓  Combines stability and infection control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0A1628"/>
                </a:solidFill>
                <a:latin typeface="Segoe UI"/>
              </a:rPr>
              <a:t>✓  Enables staged reconstruction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0A1628"/>
                </a:solidFill>
                <a:latin typeface="Segoe UI"/>
              </a:rPr>
              <a:t>✓  Supports early mobilisation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" name="Oval 27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Clear path to clinical adoption and EU market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68249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324612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2519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Current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347472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Functional prototype validated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Initial clinical cases completed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Patent application under examination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411480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42519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4805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Next 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83480"/>
            <a:ext cx="347472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Expanded clinical case series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Design optimisation and system iteration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Preparation for regulatory submission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324612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411480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42519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44805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Regulatory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983480"/>
            <a:ext cx="347472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Clinical study design and initiation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Regulatory strategy (EU / US)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Documentation and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70480" y="324612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624560" y="4114800"/>
            <a:ext cx="393192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07440" y="42519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53160" y="44805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Market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53160" y="4983480"/>
            <a:ext cx="347472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First clinical partner hospitals onboarded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Initial market entry (EU)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Early commercial 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9" name="Oval 18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Clinician-founder with real-world validation and early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02920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233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457200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Orthopaedic trauma surgeon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Experience in complex bone reconstruction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Inventor of the CITadel concept and system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Validation in initial clinical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502920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0233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Clinical environment /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526280"/>
            <a:ext cx="457200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Access to clinical cases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Active surgical collaboration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Real-world validation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0" y="3657600"/>
            <a:ext cx="502920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15800" y="40233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Future team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15800" y="4526280"/>
            <a:ext cx="457200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Expansion in engineering and regulatory capabilities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Clinical and commercial partnerships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•  Scaling towards full operational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548640"/>
            <a:ext cx="13716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8ECF1"/>
                </a:solidFill>
                <a:latin typeface="Segoe UI"/>
              </a:rPr>
              <a:t>PARTNERSHIP &amp;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645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Open to strategic partnerships to accelerate clinical and market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93192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233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What we are looking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347472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Strategic partners across orthopaedics and medtech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Support in regulatory and market access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Clinical and commercial collaboration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657600"/>
            <a:ext cx="393192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0233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Partnership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4526280"/>
            <a:ext cx="347472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Technology licensing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Co-development with implant manufacturers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Clinical collaboration and validation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Investment to support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657600"/>
            <a:ext cx="393192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0233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Use of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4526280"/>
            <a:ext cx="347472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Clinical validation and case expansion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Product development and optimisation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Regulatory pathway execution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Preparation for market entry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624560" y="3657600"/>
            <a:ext cx="393192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807440" y="3794760"/>
            <a:ext cx="10972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53160" y="4023360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Segoe UI"/>
              </a:rPr>
              <a:t>Expected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53160" y="4526280"/>
            <a:ext cx="347472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Expanded clinical evidence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Regulatory readiness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Initial market entry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334455"/>
                </a:solidFill>
                <a:latin typeface="Segoe UI"/>
              </a:rPr>
              <a:t>•  Early commercial 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F284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Oval 7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8288000" cy="1371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6459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FFFFF"/>
                </a:solidFill>
                <a:latin typeface="Segoe UI"/>
              </a:rPr>
              <a:t>Open to partnerships and strategic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731520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303520"/>
            <a:ext cx="6400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A1628"/>
                </a:solidFill>
                <a:latin typeface="Segoe UI"/>
              </a:rPr>
              <a:t>Maksym Baida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Founder, CITadel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citadelimplant.com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partnership@citadelimplant.com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4455"/>
                </a:solidFill>
                <a:latin typeface="Segoe UI"/>
              </a:rPr>
              <a:t>+380 66 766 70 94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0" y="274320"/>
            <a:ext cx="5029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